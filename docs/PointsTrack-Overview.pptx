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35424"/>
            <a:ext cx="12191695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Liberation Sans"/>
              </a:rPr>
              <a:t>PointsTrack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774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0" i="0">
                <a:solidFill>
                  <a:srgbClr val="C7D2FE"/>
                </a:solidFill>
                <a:latin typeface="Liberation Sans"/>
              </a:rPr>
              <a:t>Architecture, Robustness &amp; 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632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>
                <a:solidFill>
                  <a:srgbClr val="E0E7FF"/>
                </a:solidFill>
                <a:latin typeface="Liberation Sans"/>
              </a:rPr>
              <a:t>Digitizing AICTE Activity Points — how it's built, why it stays correct under load, and how it grows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02920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Liberation Sans"/>
              </a:rPr>
              <a:t>React Native + Expo  ·  Next.js  ·  Express + TypeScript  ·  PostgreSQL + Drizzle  ·  JWT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 i="1">
                <a:solidFill>
                  <a:srgbClr val="C7D2FE"/>
                </a:solidFill>
                <a:latin typeface="Liberation Sans"/>
              </a:rPr>
              <a:t>Every claim in this deck is backed by the live codebase and by tests run against a real server +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What PointsTrack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334155"/>
                </a:solidFill>
                <a:latin typeface="Liberation Sans"/>
              </a:rPr>
              <a:t>AICTE requires engineering students to earn </a:t>
            </a:r>
            <a:r>
              <a:rPr sz="1600" b="1" i="0">
                <a:solidFill>
                  <a:srgbClr val="4F46E5"/>
                </a:solidFill>
                <a:latin typeface="Liberation Sans"/>
              </a:rPr>
              <a:t>100 activity points</a:t>
            </a:r>
            <a:r>
              <a:rPr sz="1600" b="0" i="0">
                <a:solidFill>
                  <a:srgbClr val="334155"/>
                </a:solidFill>
                <a:latin typeface="Liberation Sans"/>
              </a:rPr>
              <a:t> (80 for lateral entry) to graduate. Most colleges still track this in spreadsheets and PDFs. PointsTrack replaces that with a verifiable, real-time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61188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3611880" cy="76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154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Liberation Sans"/>
              </a:rPr>
              <a:t>Clubs / organizers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1546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Liberation Sans"/>
              </a:rPr>
              <a:t>Publish events, set capacity, check students in manually or by scanning a QR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514600"/>
            <a:ext cx="361188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2514600"/>
            <a:ext cx="3611880" cy="762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788920"/>
            <a:ext cx="3154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Liberation Sans"/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383280"/>
            <a:ext cx="31546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Liberation Sans"/>
              </a:rPr>
              <a:t>Discover events, register, get checked in, and watch points land instantly toward their goal.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2514600"/>
            <a:ext cx="361188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6176" y="2514600"/>
            <a:ext cx="3611880" cy="762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2788920"/>
            <a:ext cx="3154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Liberation Sans"/>
              </a:rPr>
              <a:t>The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383280"/>
            <a:ext cx="31546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Liberation Sans"/>
              </a:rPr>
              <a:t>Awards points automatically and exactly once, tracks progress, and notifies everyone.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64748B"/>
                </a:solidFill>
                <a:latin typeface="Liberation Sans"/>
              </a:rPr>
              <a:t>Replaces a previous Firebase stack with a custom, self-hosted backend — for full control over data, cost, and correctness under concurrent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System architecture</a:t>
            </a:r>
          </a:p>
        </p:txBody>
      </p:sp>
      <p:pic>
        <p:nvPicPr>
          <p:cNvPr id="7" name="Picture 6" descr="0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844" y="1234440"/>
            <a:ext cx="975983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Three components, one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8900" cy="13716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0233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Liberation Sans"/>
              </a:rPr>
              <a:t>pointstrack-api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Liberation Sans"/>
              </a:rPr>
              <a:t>Express + TypeScript · PostgreSQL + Drizzle ORM ·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640080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34155"/>
                </a:solidFill>
                <a:latin typeface="Liberation Sans"/>
              </a:rPr>
              <a:t>Stateless backend for both clients. Transactions, RBAC, rate limiting,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44368"/>
            <a:ext cx="110642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944368"/>
            <a:ext cx="88900" cy="13716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40233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Liberation Sans"/>
              </a:rPr>
              <a:t>pointstrack-admin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D9488"/>
                </a:solidFill>
                <a:latin typeface="Liberation Sans"/>
              </a:rPr>
              <a:t>Next.js (App Router) + Tailwind + Framer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27248"/>
            <a:ext cx="640080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34155"/>
                </a:solidFill>
                <a:latin typeface="Liberation Sans"/>
              </a:rPr>
              <a:t>Organizer web dashboard and the public landing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7136"/>
            <a:ext cx="110642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88900" cy="13716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81728"/>
            <a:ext cx="40233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Liberation Sans"/>
              </a:rPr>
              <a:t>PointsTrack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34155"/>
                </a:solidFill>
                <a:latin typeface="Liberation Sans"/>
              </a:rPr>
              <a:t>React Native + Expo · NativeWind · expo-camera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700016"/>
            <a:ext cx="640080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 i="0">
                <a:solidFill>
                  <a:srgbClr val="334155"/>
                </a:solidFill>
                <a:latin typeface="Liberation Sans"/>
              </a:rPr>
              <a:t>Mobile app for students and organizers — feed, QR check-in, wallet, transcript.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Liberation Sans"/>
              </a:rPr>
              <a:t>Backend stack: </a:t>
            </a:r>
            <a:r>
              <a:rPr sz="1300" b="0" i="0">
                <a:solidFill>
                  <a:srgbClr val="334155"/>
                </a:solidFill>
                <a:latin typeface="Liberation Sans"/>
              </a:rPr>
              <a:t>Node · Express · TypeScript · Drizzle · PostgreSQL · JWT · bcrypt · Zod · helmet · express-rate-limit · compression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Data model</a:t>
            </a:r>
          </a:p>
        </p:txBody>
      </p:sp>
      <p:pic>
        <p:nvPicPr>
          <p:cNvPr id="7" name="Picture 6" descr="02-data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30158"/>
            <a:ext cx="11430000" cy="41062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334155"/>
                </a:solidFill>
                <a:latin typeface="Liberation Sans"/>
              </a:rPr>
              <a:t>Two unique constraints carry the correctness guarantees: </a:t>
            </a:r>
            <a:r>
              <a:rPr sz="1350" b="1" i="0">
                <a:solidFill>
                  <a:srgbClr val="DC2626"/>
                </a:solidFill>
                <a:latin typeface="Liberation Sans"/>
              </a:rPr>
              <a:t>UNIQUE(event_id, student_id)</a:t>
            </a:r>
            <a:r>
              <a:rPr sz="1350" b="0" i="0">
                <a:solidFill>
                  <a:srgbClr val="334155"/>
                </a:solidFill>
                <a:latin typeface="Liberation Sans"/>
              </a:rPr>
              <a:t> → one registration per student;  </a:t>
            </a:r>
            <a:r>
              <a:rPr sz="1350" b="1" i="0">
                <a:solidFill>
                  <a:srgbClr val="DC2626"/>
                </a:solidFill>
                <a:latin typeface="Liberation Sans"/>
              </a:rPr>
              <a:t>UNIQUE(attendee_id)</a:t>
            </a:r>
            <a:r>
              <a:rPr sz="1350" b="0" i="0">
                <a:solidFill>
                  <a:srgbClr val="334155"/>
                </a:solidFill>
                <a:latin typeface="Liberation Sans"/>
              </a:rPr>
              <a:t> on the ledger → one check-in awards points exactly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The hard part: correct under concurrency</a:t>
            </a:r>
          </a:p>
        </p:txBody>
      </p:sp>
      <p:pic>
        <p:nvPicPr>
          <p:cNvPr id="7" name="Picture 6" descr="03-checkin-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78" y="1188720"/>
            <a:ext cx="4719843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3258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Liberation Sans"/>
              </a:rPr>
              <a:t>Where naive apps 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4348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350" b="0" i="0">
                <a:solidFill>
                  <a:srgbClr val="334155"/>
                </a:solidFill>
                <a:latin typeface="Liberation Sans"/>
              </a:rPr>
              <a:t>Double-tapped check-in buttons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350" b="0" i="0">
                <a:solidFill>
                  <a:srgbClr val="334155"/>
                </a:solidFill>
                <a:latin typeface="Liberation Sans"/>
              </a:rPr>
              <a:t>Two organizers scanning one student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350" b="0" i="0">
                <a:solidFill>
                  <a:srgbClr val="334155"/>
                </a:solidFill>
                <a:latin typeface="Liberation Sans"/>
              </a:rPr>
              <a:t>A popular event filling as dozens register at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20040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Liberation Sans"/>
              </a:rPr>
              <a:t>Two layers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03320"/>
            <a:ext cx="44348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300" b="1" i="0">
                <a:solidFill>
                  <a:srgbClr val="0F172A"/>
                </a:solidFill>
                <a:latin typeface="Liberation Sans"/>
              </a:rPr>
              <a:t>Row locks (primary)  </a:t>
            </a:r>
            <a:r>
              <a:rPr sz="1300" b="0" i="0">
                <a:solidFill>
                  <a:srgbClr val="334155"/>
                </a:solidFill>
                <a:latin typeface="Liberation Sans"/>
              </a:rPr>
              <a:t>every award/capacity write runs in db.transaction with SELECT … FOR UPDATE, serialising racers.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300" b="1" i="0">
                <a:solidFill>
                  <a:srgbClr val="0F172A"/>
                </a:solidFill>
                <a:latin typeface="Liberation Sans"/>
              </a:rPr>
              <a:t>Unique indexes (backstop)  </a:t>
            </a:r>
            <a:r>
              <a:rPr sz="1300" b="0" i="0">
                <a:solidFill>
                  <a:srgbClr val="334155"/>
                </a:solidFill>
                <a:latin typeface="Liberation Sans"/>
              </a:rPr>
              <a:t>the DB physically refuses duplicate rows even if app logic slips.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300" b="1" i="0">
                <a:solidFill>
                  <a:srgbClr val="0F172A"/>
                </a:solidFill>
                <a:latin typeface="Liberation Sans"/>
              </a:rPr>
              <a:t>Side effects post-commit  </a:t>
            </a:r>
            <a:r>
              <a:rPr sz="1300" b="0" i="0">
                <a:solidFill>
                  <a:srgbClr val="334155"/>
                </a:solidFill>
                <a:latin typeface="Liberation Sans"/>
              </a:rPr>
              <a:t>push &amp; waitlist promotion run after COMMIT — locks never held over network I/O.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Proof — tests run live against a real server +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1">
                <a:solidFill>
                  <a:srgbClr val="334155"/>
                </a:solidFill>
                <a:latin typeface="Liberation Sans"/>
              </a:rPr>
              <a:t>Not mocked. The same routes, transactions and constraints that run in production, hammered with concurrent HTTP, then ground-truth read straight from Postgres.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12064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4937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Concurrency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965960"/>
            <a:ext cx="283464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965960"/>
            <a:ext cx="2651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Expected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965960"/>
            <a:ext cx="310896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965960"/>
            <a:ext cx="29260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Actual (measured)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512064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4937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Liberation Sans"/>
              </a:rPr>
              <a:t>12 simultaneous check-ins of one attendee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468880"/>
            <a:ext cx="283464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46888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Liberation Sans"/>
              </a:rPr>
              <a:t>1 ledger row · 50 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468880"/>
            <a:ext cx="310896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468880"/>
            <a:ext cx="29260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Liberation Sans"/>
              </a:rPr>
              <a:t>1 ledger row · 50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08960"/>
            <a:ext cx="51206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08960"/>
            <a:ext cx="4937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Liberation Sans"/>
              </a:rPr>
              <a:t>10 simultaneous duplicate applications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108960"/>
            <a:ext cx="28346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310896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Liberation Sans"/>
              </a:rPr>
              <a:t>1 attendee row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108960"/>
            <a:ext cx="310896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108960"/>
            <a:ext cx="29260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Liberation Sans"/>
              </a:rPr>
              <a:t>1 row (9 × HTTP 409)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49040"/>
            <a:ext cx="512064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49040"/>
            <a:ext cx="4937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Liberation Sans"/>
              </a:rPr>
              <a:t>capacity = 1, 6 simultaneous applications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3749040"/>
            <a:ext cx="283464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374904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Liberation Sans"/>
              </a:rPr>
              <a:t>1 active · 5 waitlisted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3749040"/>
            <a:ext cx="310896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749040"/>
            <a:ext cx="29260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Liberation Sans"/>
              </a:rPr>
              <a:t>1 active · 5 waitlisted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17720"/>
            <a:ext cx="11064240" cy="868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27448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5803D"/>
                </a:solidFill>
                <a:latin typeface="Liberation Sans"/>
              </a:rPr>
              <a:t>✓  3 / 3 scenarios correct under concurrency — ALL 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93208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64748B"/>
                </a:solidFill>
                <a:latin typeface="Liberation Sans"/>
              </a:rPr>
              <a:t>Reproducible: npx tsx scripts/concurrency-proof.ts   ·   run 2026-06-14 against localhost:4000 + Postgres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Built to grow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76200" cy="1417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636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Liberation Sans"/>
              </a:rPr>
              <a:t>Stateless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auth is a JWT in the request — no server session — so you run N identical instances behind a load balancer.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76200" cy="1417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636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Liberation Sans"/>
              </a:rPr>
              <a:t>Bounded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84248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every list endpoint uses capped limit/offset pagination; no request can ever ask for unbounded rows.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76200" cy="1417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638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Liberation Sans"/>
              </a:rPr>
              <a:t>Efficient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84448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indexes cover every hot lookup; per-event counts come from one grouped query, not 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175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017520"/>
            <a:ext cx="76200" cy="1417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Liberation Sans"/>
              </a:rPr>
              <a:t>Swap-in managed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84448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the app touches only DATABASE_URL → drop in Neon/Supabase for autoscaling + replicas; pooling via DB_POOL_MAX.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177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76200" cy="1417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640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Liberation Sans"/>
              </a:rPr>
              <a:t>Storage abstraction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84648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uploads go to S3/R2 in prod, local disk in dev — env-switched, zero code change. This is what keeps the API stateless.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177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617720"/>
            <a:ext cx="76200" cy="1417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640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Liberation Sans"/>
              </a:rPr>
              <a:t>Lean transport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gzip compression on responses; push notifications chunked through the Expo SDK.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Topology &amp; a real measurement</a:t>
            </a:r>
          </a:p>
        </p:txBody>
      </p:sp>
      <p:pic>
        <p:nvPicPr>
          <p:cNvPr id="7" name="Picture 6" descr="04-scalability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5009"/>
            <a:ext cx="6949440" cy="48538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417320"/>
            <a:ext cx="438912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417320"/>
            <a:ext cx="4389120" cy="76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4592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Liberation Sans"/>
              </a:rPr>
              <a:t>Measured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03120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64748B"/>
                </a:solidFill>
                <a:latin typeface="Liberation Sans"/>
              </a:rPr>
              <a:t>single un-tuned dev instance · local Postgres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14600"/>
            <a:ext cx="38404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3000" b="1" i="0">
                <a:solidFill>
                  <a:srgbClr val="4F46E5"/>
                </a:solidFill>
                <a:latin typeface="Liberation Sans"/>
              </a:rPr>
              <a:t>358 req/s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Liberation Sans"/>
              </a:rPr>
              <a:t>2,000 paginated reads @ concurrency 50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Liberation Sans"/>
              </a:rPr>
              <a:t>latency  p50 134 ms · p95 180 ms · p99 246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977639"/>
            <a:ext cx="4389120" cy="23317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16052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5803D"/>
                </a:solidFill>
                <a:latin typeface="Liberation Sans"/>
              </a:rPr>
              <a:t>Honest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617720"/>
            <a:ext cx="402336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200" b="1" i="0">
                <a:solidFill>
                  <a:srgbClr val="0F172A"/>
                </a:solidFill>
                <a:latin typeface="Liberation Sans"/>
              </a:rPr>
              <a:t>As-is  </a:t>
            </a:r>
            <a:r>
              <a:rPr sz="1200" b="0" i="0">
                <a:solidFill>
                  <a:srgbClr val="334155"/>
                </a:solidFill>
                <a:latin typeface="Liberation Sans"/>
              </a:rPr>
              <a:t>a full college — low thousands of users — correct under bursty check-in load.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200" b="1" i="0">
                <a:solidFill>
                  <a:srgbClr val="0F172A"/>
                </a:solidFill>
                <a:latin typeface="Liberation Sans"/>
              </a:rPr>
              <a:t>To 50k+  </a:t>
            </a:r>
            <a:r>
              <a:rPr sz="1200" b="0" i="0">
                <a:solidFill>
                  <a:srgbClr val="334155"/>
                </a:solidFill>
                <a:latin typeface="Liberation Sans"/>
              </a:rPr>
              <a:t>add Redis rate-limit store + a broadcast queue. Additive — no rewrite.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7D2FE"/>
                </a:solidFill>
                <a:latin typeface="Liberation San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Defense in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7620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636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Liberation Sans"/>
              </a:rPr>
              <a:t>JWT + rotating refresh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short-lived access tokens (~15 min); refresh tokens hashed in the DB, rotated on use, revocable.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7620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636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Liberation Sans"/>
              </a:rPr>
              <a:t>bcrypt password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no plaintext credentials ever stored.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7620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638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Liberation Sans"/>
              </a:rPr>
              <a:t>Role-based access +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requireRole on every protected route; organizers can only touch their own events/attendees.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175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017520"/>
            <a:ext cx="7620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Liberation Sans"/>
              </a:rPr>
              <a:t>Rate limiting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66160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generous global ceiling + strict /auth limiter to blunt brute-force and credential stuffing.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177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7620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640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Liberation Sans"/>
              </a:rPr>
              <a:t>Hardened 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helmet security headers, strict CORS allow-list in production, 1 MB JSON body cap.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1772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617720"/>
            <a:ext cx="7620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64024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Liberation Sans"/>
              </a:rPr>
              <a:t>Clean error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66360"/>
            <a:ext cx="5074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Liberation Sans"/>
              </a:rPr>
              <a:t>Zod → 400, typed errors → status, unique violations → 409, everything else → 500 with no stack leaks.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35424"/>
            <a:ext cx="12191695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Liberation Sans"/>
              </a:rPr>
              <a:t>Why it holds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42416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iberation Sans"/>
              </a:rPr>
              <a:t>Correctness is enforced by the database, not hope — row locks + unique constraints.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iberation Sans"/>
              </a:rPr>
              <a:t>Proven, not asserted — 3/3 concurrency scenarios pass live; 358 req/s measured.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iberation Sans"/>
              </a:rPr>
              <a:t>Stateless by design — scales horizontally with no architectural change.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0D9488"/>
                </a:solidFill>
                <a:latin typeface="Liberation Sans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iberation Sans"/>
              </a:rPr>
              <a:t>Growth path is additive — Redis + a queue take it to 50k+, no rewrite.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104241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Liberation Sans"/>
              </a:rPr>
              <a:t>PointsTrack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C7D2FE"/>
                </a:solidFill>
                <a:latin typeface="Liberation Sans"/>
              </a:rPr>
              <a:t>Full write-up: docs/ARCHITECTURE.md  ·  PointsTrack-Architecture-Report.pdf  ·  reproduce: scripts/concurrency-proof.ts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